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COMMERCIAL PITCH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COMMOHEDGE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EF833"/>
                </a:solidFill>
                <a:latin typeface="Calibri"/>
              </a:rPr>
              <a:t>Commodity hedging &amp; intelligence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2F7"/>
                </a:solidFill>
                <a:latin typeface="Calibri"/>
              </a:rPr>
              <a:t>Price, hedge, monitor and contextualize commodity
(and FX) risk in one professional workstation.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233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1CAAF"/>
                </a:solidFill>
                <a:latin typeface="Calibri"/>
              </a:rPr>
              <a:t>For corporate treasurers · commodity desks · brokers · shipping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1384" y="1014984"/>
            <a:ext cx="5285232" cy="4828032"/>
          </a:xfrm>
          <a:prstGeom prst="roundRect">
            <a:avLst>
              <a:gd name="adj" fmla="val 4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{BD890DA4-B338-426F-AF12-226DB77D343E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89286"/>
            <a:ext cx="5212080" cy="26794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Presentation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904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305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305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CommoHedge 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9748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706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70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Product walkthrough (live UI)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59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10711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10711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Instruments, models &amp;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4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507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507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Buyers &amp; competitive 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908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6908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Demo script &amp; packaging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57799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30951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330951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Closing &amp; 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Why mid-market risk teams stay fragile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611880" cy="411480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4008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Terminal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Bloomberg / Murex / full quant stacks are too expensive and heavy for many corporates.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11880" cy="411480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874519"/>
            <a:ext cx="64008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Fragmented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Pricing in Excel, exposures elsewhere, news elsewhere, freight elsewhere — no unified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611880" cy="411480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874519"/>
            <a:ext cx="64008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945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Opaque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880360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Barriers &amp; digitals mispriced, approximate VaR, no path from strategy → book → committee.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One-sentence pitch for the meeting 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CommoHedge replaces the Excel + Bloomberg + bank-email patchwork
with one terminal: desk-grade pricing, hedge book with live MTM,
market data (futures / vol / freight) and geopolitical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66160"/>
            <a:ext cx="2743200" cy="2103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Black-76, barriers, MC, Greeks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566160"/>
            <a:ext cx="2743200" cy="2103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HEDGE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343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Exposures → book → MTM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66160"/>
            <a:ext cx="2743200" cy="2103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43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VaR, stress, PDF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566160"/>
            <a:ext cx="2743200" cy="2103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SENSE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343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Data + Intel +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Commodity Pricers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Desk-grade pricing with payoff &amp; Greeks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Price vanillas, knock-outs, digitals and more.
• Closed-form &amp; Monte Carlo engines
• Live Greeks (Δ Γ Θ Vega Rho)
• Cost-of-carry forwards
• Interactive payoff charts
• Feed from Market / Data Terminal
Show the client a knock-out call on WTI
in under a minute.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35424" y="1197864"/>
            <a:ext cx="7205472" cy="4919472"/>
          </a:xfrm>
          <a:prstGeom prst="roundRect">
            <a:avLst>
              <a:gd name="adj" fmla="val 4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{BD890DA4-B338-426F-AF12-226DB77D343E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4307"/>
            <a:ext cx="7132320" cy="36665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Strategy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Design multi-month hedges with real terminal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" y="1243584"/>
            <a:ext cx="7388352" cy="4828032"/>
          </a:xfrm>
          <a:prstGeom prst="roundRect">
            <a:avLst>
              <a:gd name="adj" fmla="val 4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{C1E340B5-B17B-400D-848A-51DCD5A9E18C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5776"/>
            <a:ext cx="7315200" cy="41036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14173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Build full hedge programs:
• Commodity + horizon + volume
• Long / short positioning
• Black-Scholes or Monte Carlo
• Barrier simulation controls
• Spot + IV from Data Terminal
• Stress &amp; historical backtest
• Export into the hedge book
From idea → structure → 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Exposures &amp; Hedge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Operational loop: exposure → instrument → MTM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4" y="1289304"/>
            <a:ext cx="5696712" cy="3319272"/>
          </a:xfrm>
          <a:prstGeom prst="roundRect">
            <a:avLst>
              <a:gd name="adj" fmla="val 4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{F1A55C30-CD9B-40E8-9A47-A6EDC89E953B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14150"/>
            <a:ext cx="5623560" cy="28695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35624" y="1289304"/>
            <a:ext cx="5696712" cy="3319272"/>
          </a:xfrm>
          <a:prstGeom prst="roundRect">
            <a:avLst>
              <a:gd name="adj" fmla="val 4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{C2D43F25-4D48-4D40-A313-FFFCD731F493}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82580"/>
            <a:ext cx="5623560" cy="2732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7548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Exposures: long/short volumes, hedge ratios, auto-link from instruments, CSV export.
Hedging Instruments: notional, live MTM, near-maturity alerts, hedge-accounting flags, filters by strategy / portfolio.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Futures chain + 3D implied volatility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4" y="1243584"/>
            <a:ext cx="5696712" cy="3730752"/>
          </a:xfrm>
          <a:prstGeom prst="roundRect">
            <a:avLst>
              <a:gd name="adj" fmla="val 4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{EB2283AC-646C-48BA-A8BE-1C2323DC58F4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92154"/>
            <a:ext cx="5623560" cy="30336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35624" y="1243584"/>
            <a:ext cx="5696712" cy="3730752"/>
          </a:xfrm>
          <a:prstGeom prst="roundRect">
            <a:avLst>
              <a:gd name="adj" fmla="val 4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37723"/>
            <a:ext cx="5623560" cy="29424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0749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2F7"/>
                </a:solidFill>
                <a:latin typeface="Calibri"/>
              </a:rPr>
              <a:t>Futures curve with DTE interpolation · Vol &amp; Greeks · IV Matrix · Vol Surface 3D — feeding Pricers and Strategy Builder.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What the client gains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1155680" cy="132588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20"/>
            <a:ext cx="1737360" cy="50292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Reduce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Cost &amp;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86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Fewer terminal licenses and unmanaged spreadsheets.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11155680" cy="132588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337560"/>
            <a:ext cx="1737360" cy="50292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107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Accelerate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Hedge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749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From structure idea to committee PDF in one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34840"/>
            <a:ext cx="11155680" cy="132588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800600"/>
            <a:ext cx="1737360" cy="502920"/>
          </a:xfrm>
          <a:prstGeom prst="roundRect">
            <a:avLst>
              <a:gd name="adj" fmla="val 20000"/>
            </a:avLst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737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Secure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Risk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212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Roles, cloud sync, MTM, VaR / stress that audit.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Product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6 modules · 20+ business pages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EF833"/>
                </a:solidFill>
                <a:latin typeface="Calibri"/>
              </a:rPr>
              <a:t>Pricing &amp;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Pricers, Strategy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Multi-leg structures, stress, backtest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EF833"/>
                </a:solidFill>
                <a:latin typeface="Calibri"/>
              </a:rPr>
              <a:t>Risk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Exposures, Hedging, Positions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51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Exposure → hedge → MTM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EF833"/>
                </a:solidFill>
                <a:latin typeface="Calibri"/>
              </a:rPr>
              <a:t>Risk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Risk, Regression,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VaR / ES, stress, PDF &amp; 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0332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EF833"/>
                </a:solidFill>
                <a:latin typeface="Calibri"/>
              </a:rPr>
              <a:t>Market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Market, Terminal, Rates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Futures, options, vol surface, curves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0332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EF833"/>
                </a:solidFill>
                <a:latin typeface="Calibri"/>
              </a:rPr>
              <a:t>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Intel Workspace, Map, News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937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Geopolitics, AIS, macro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0332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EF833"/>
                </a:solidFill>
                <a:latin typeface="Calibri"/>
              </a:rPr>
              <a:t>AI &amp;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Hedge Assistant, Users, 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937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AI advice, roles, white-label, 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Instruments &amp;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Desk credibility — beyond Excel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Instrument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Forwards &amp; Swaps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Vanilla Calls / 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Barriers KO / KI (single, reverse, double)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19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Digitals &amp; touches (one-touch, no-touch, range)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34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Multi-leg &amp; zero-cost structures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Pricing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Black-76 (options on forward)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Black-Scholes &amp; Garman-Kohlhagen (FX)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37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Closed-form barriers + Monte Carlo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8619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Greeks: Δ Γ Θ Vega Rho + IV solver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34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▸  Cost of carry · interest-rate curves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Coverage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26+ commodities · FX · rates · freight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1848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WTI · Brent · NatGas · Heating Oil · RBOB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METALS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8716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Gold · Silver · Platinum · Palladium · Cu · Al · Zn · 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5468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558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AGRI / LIVESTOCK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35584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Corn · Wheat · Soy · Coffee · Sugar · Cotton · Cattle · Hogs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23359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24527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FREIGHT / BUNKER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224527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Baltic / container &amp; dirty routes · Ship &amp; Bunker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204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932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FX &amp; 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09320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2F7"/>
                </a:solidFill>
                <a:latin typeface="Calibri"/>
              </a:rPr>
              <a:t>Garman-Kohlhagen · USD EUR GBP JPY CHF CAD SGD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Who buys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Priority segments &amp; pitch angles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1CAAF"/>
                </a:solidFill>
                <a:latin typeface="Calibri"/>
              </a:rPr>
              <a:t>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1CAAF"/>
                </a:solidFill>
                <a:latin typeface="Calibri"/>
              </a:rPr>
              <a:t>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371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1CAAF"/>
                </a:solidFill>
                <a:latin typeface="Calibri"/>
              </a:rPr>
              <a:t>PITCH ANGLE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Corporate treasury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9339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Hedge energy / metals / agri without a full bank desk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9933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F833"/>
                </a:solidFill>
                <a:latin typeface="Calibri"/>
              </a:rPr>
              <a:t>Bloomberg-light workstation, decisions in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4495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Trading houses / brokers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4495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Client-facing pricers + hedge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4495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F833"/>
                </a:solidFill>
                <a:latin typeface="Calibri"/>
              </a:rPr>
              <a:t>Desk terminal + commercial PDF packs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9651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Freight &amp; shipping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9651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Bunker, freight and energy on one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0965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F833"/>
                </a:solidFill>
                <a:latin typeface="Calibri"/>
              </a:rPr>
              <a:t>Rare edge vs metals/oil-only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92039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48071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Consultancies / white-label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148071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Client-branded platform +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148071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F833"/>
                </a:solidFill>
                <a:latin typeface="Calibri"/>
              </a:rPr>
              <a:t>Logo, company settings, Admin → Viewer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Competitive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Why CommoHedge wins mid-market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vs Bloomberg / Refinitiv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1CAAF"/>
                </a:solidFill>
                <a:latin typeface="Calibri"/>
              </a:rPr>
              <a:t>Cost &amp; complexity too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6916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F833"/>
                </a:solidFill>
                <a:latin typeface="Calibri"/>
              </a:rPr>
              <a:t>~80% of hedge-desk value at a fraction of the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vs Excel + VBA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7889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1CAAF"/>
                </a:solidFill>
                <a:latin typeface="Calibri"/>
              </a:rPr>
              <a:t>Fragile, unauditable, no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7889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F833"/>
                </a:solidFill>
                <a:latin typeface="Calibri"/>
              </a:rPr>
              <a:t>Institutional models + exposures / MTM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1188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vs Bank pricers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886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1CAAF"/>
                </a:solidFill>
                <a:latin typeface="Calibri"/>
              </a:rPr>
              <a:t>Opaque, slow, FX vs commodity silos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8862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F833"/>
                </a:solidFill>
                <a:latin typeface="Calibri"/>
              </a:rPr>
              <a:t>FX + commodity DNA in one terminal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09159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834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vs Pure risk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98347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1CAAF"/>
                </a:solidFill>
                <a:latin typeface="Calibri"/>
              </a:rPr>
              <a:t>Analytics without data or intel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983479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F833"/>
                </a:solidFill>
                <a:latin typeface="Calibri"/>
              </a:rPr>
              <a:t>Pricing + data + intel + AI together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77240" cy="64008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Demo script &amp;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CAAF"/>
                </a:solidFill>
                <a:latin typeface="Calibri"/>
              </a:rPr>
              <a:t>20–25 min walkthrough · 3 commercial tiers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087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Landing +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060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E2F7"/>
                </a:solidFill>
                <a:latin typeface="Calibri"/>
              </a:rPr>
              <a:t>Positioning &amp; funnel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37160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15087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9202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Market / 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6060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E2F7"/>
                </a:solidFill>
                <a:latin typeface="Calibri"/>
              </a:rPr>
              <a:t>Data credibility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5087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9202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Strategy + Pricers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6060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E2F7"/>
                </a:solidFill>
                <a:latin typeface="Calibri"/>
              </a:rPr>
              <a:t>Core product wow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5087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9202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Exposures → MTM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060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E2F7"/>
                </a:solidFill>
                <a:latin typeface="Calibri"/>
              </a:rPr>
              <a:t>Operational proof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37160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15087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19202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Risk +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6060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E2F7"/>
                </a:solidFill>
                <a:latin typeface="Calibri"/>
              </a:rPr>
              <a:t>Committee language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137160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15087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EF833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19202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Intel +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8128" y="26060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E2F7"/>
                </a:solidFill>
                <a:latin typeface="Calibri"/>
              </a:rPr>
              <a:t>Geopolitics &amp; advice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61188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7947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EF833"/>
                </a:solidFill>
                <a:latin typeface="Calibri"/>
              </a:rPr>
              <a:t>ESSENTIAL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069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Core Hedge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480560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Dashboard, Exposures, Hedging,
Strategy, Pricers, Risk, Reports.
Best for treasury.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61188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3611880"/>
            <a:ext cx="3611880" cy="91440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37947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EF833"/>
                </a:solidFill>
                <a:latin typeface="Calibri"/>
              </a:rPr>
              <a:t>RECOMMENDED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069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Desk Pro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480560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Core + Market + Data Terminal
+ Rate Explorer + Hedge Assistant.
For desks &amp; brokers.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361188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37947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EF833"/>
                </a:solidFill>
                <a:latin typeface="Calibri"/>
              </a:rPr>
              <a:t>PREMIUM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069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480560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F7"/>
                </a:solidFill>
                <a:latin typeface="Calibri"/>
              </a:rPr>
              <a:t>Desk Pro + Intel Workspace,
World Map, news, white-label,
advanced admin / SSO.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CAAF"/>
                </a:solidFill>
                <a:latin typeface="Calibri"/>
              </a:rPr>
              <a:t>COMMOHEDGE  ·  Commodity hedging &amp; intelligence terminal  · 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Three lines to remember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103120"/>
            <a:ext cx="411480" cy="411480"/>
          </a:xfrm>
          <a:prstGeom prst="ellipse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E2F7"/>
                </a:solidFill>
                <a:latin typeface="Calibri"/>
              </a:rPr>
              <a:t>A commodity hedge terminal (and FX) — not a toolbox of calculators.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80360"/>
            <a:ext cx="411480" cy="411480"/>
          </a:xfrm>
          <a:prstGeom prst="ellipse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E2F7"/>
                </a:solidFill>
                <a:latin typeface="Calibri"/>
              </a:rPr>
              <a:t>From exotic pricing to committee reporting, in one workflow.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57600"/>
            <a:ext cx="411480" cy="411480"/>
          </a:xfrm>
          <a:prstGeom prst="ellipse">
            <a:avLst/>
          </a:prstGeom>
          <a:solidFill>
            <a:srgbClr val="AEF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360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E2F7"/>
                </a:solidFill>
                <a:latin typeface="Calibri"/>
              </a:rPr>
              <a:t>Market data + freight + geopolitical intel: the mid-market edge.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4626864"/>
            <a:ext cx="3730752" cy="1490472"/>
          </a:xfrm>
          <a:prstGeom prst="roundRect">
            <a:avLst>
              <a:gd name="adj" fmla="val 4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{C2D43F25-4D48-4D40-A313-FFFCD731F493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556" y="4663440"/>
            <a:ext cx="2916648" cy="1417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443984" y="4626864"/>
            <a:ext cx="3730752" cy="1490472"/>
          </a:xfrm>
          <a:prstGeom prst="roundRect">
            <a:avLst>
              <a:gd name="adj" fmla="val 4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992" y="4663440"/>
            <a:ext cx="2708735" cy="14173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284464" y="4626864"/>
            <a:ext cx="3456432" cy="1490472"/>
          </a:xfrm>
          <a:prstGeom prst="roundRect">
            <a:avLst>
              <a:gd name="adj" fmla="val 4000"/>
            </a:avLst>
          </a:prstGeom>
          <a:solidFill>
            <a:srgbClr val="141B2B"/>
          </a:solidFill>
          <a:ln w="12700">
            <a:solidFill>
              <a:srgbClr val="42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{BD890DA4-B338-426F-AF12-226DB77D343E}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179" y="4663440"/>
            <a:ext cx="2757001" cy="1417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EF833"/>
                </a:solidFill>
                <a:latin typeface="Calibri"/>
              </a:rPr>
              <a:t>Next step: 25-min guided demo  ·  request access  ·  POC on your 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1CAAF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